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410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3ECFB2">
              <a:alpha val="12000"/>
            </a:srgbClr>
          </a:solidFill>
          <a:ln w="12700">
            <a:solidFill>
              <a:srgbClr val="3ECF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3200400"/>
            <a:ext cx="2743200" cy="2743200"/>
          </a:xfrm>
          <a:prstGeom prst="ellipse">
            <a:avLst/>
          </a:prstGeom>
          <a:solidFill>
            <a:srgbClr val="3ECFB2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200" dirty="0"/>
          </a:p>
        </p:txBody>
      </p:sp>
      <p:sp>
        <p:nvSpPr>
          <p:cNvPr id="7" name="Shape 4"/>
          <p:cNvSpPr/>
          <p:nvPr/>
        </p:nvSpPr>
        <p:spPr>
          <a:xfrm>
            <a:off x="502920" y="2834640"/>
            <a:ext cx="3200400" cy="27432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9443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Recommerce Fesyen Berbasis Kearifan Lokal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703320"/>
            <a:ext cx="2286000" cy="292608"/>
          </a:xfrm>
          <a:prstGeom prst="rect">
            <a:avLst/>
          </a:prstGeom>
          <a:solidFill>
            <a:srgbClr val="0A3060"/>
          </a:solidFill>
          <a:ln w="10160">
            <a:solidFill>
              <a:srgbClr val="3ECF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Fashion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4087368"/>
            <a:ext cx="2286000" cy="292608"/>
          </a:xfrm>
          <a:prstGeom prst="rect">
            <a:avLst/>
          </a:prstGeom>
          <a:solidFill>
            <a:srgbClr val="0A3060"/>
          </a:solidFill>
          <a:ln w="10160">
            <a:solidFill>
              <a:srgbClr val="3ECF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087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4471416"/>
            <a:ext cx="2286000" cy="292608"/>
          </a:xfrm>
          <a:prstGeom prst="rect">
            <a:avLst/>
          </a:prstGeom>
          <a:solidFill>
            <a:srgbClr val="0A3060"/>
          </a:solidFill>
          <a:ln w="10160">
            <a:solidFill>
              <a:srgbClr val="3ECF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4471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Legal &amp; Aman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· 2025</a:t>
            </a:r>
            <a:endParaRPr lang="en-US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61A957-0893-0CAC-C872-D0FD95147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04585"/>
            <a:ext cx="5743575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solidFill>
            <a:srgbClr val="3ECFB2"/>
          </a:solidFill>
          <a:ln w="12700">
            <a:solidFill>
              <a:srgbClr val="3E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6459"/>
          </a:xfrm>
          <a:prstGeom prst="rect">
            <a:avLst/>
          </a:prstGeom>
          <a:solidFill>
            <a:srgbClr val="D6F5E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14400"/>
            <a:ext cx="3383280" cy="1078992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14400"/>
            <a:ext cx="64008" cy="10789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058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92M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920240" y="11704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limbah tekstil per tahun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3383280" cy="1078992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148840"/>
            <a:ext cx="64008" cy="10789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402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920240" y="2404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 produksi fast fashion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383280"/>
            <a:ext cx="3383280" cy="1078992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3383280"/>
            <a:ext cx="64008" cy="10789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920240" y="36393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Beralih ke gaya hidup sustainable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69080" y="914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Terjadi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69080" y="1444752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1444752"/>
            <a:ext cx="4754880" cy="27432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691640"/>
            <a:ext cx="420624" cy="42062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736592" y="15361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Pakaian Ilegal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36592" y="186537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Banjir baju impor bekas ilegal menimbulkan risiko hukum dan kesehatan bagi konsumen.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069080" y="2615184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69080" y="2615184"/>
            <a:ext cx="4754880" cy="27432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862072"/>
            <a:ext cx="420624" cy="42062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736592" y="270662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Limbah Tekstil Masif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736592" y="303580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fast fashion membuang jutaan ton garmen termasuk sisa produksi pabrik lokal.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069080" y="3785616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069080" y="3785616"/>
            <a:ext cx="4754880" cy="27432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032504"/>
            <a:ext cx="420624" cy="42062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736592" y="387705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Fesyen Terbatas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736592" y="420624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ingin branded fashion terjangkau, namun pilihan legal dan terpercaya masih sangat minim.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0" y="49926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solidFill>
            <a:srgbClr val="3ECFB2"/>
          </a:solidFill>
          <a:ln w="12700">
            <a:solidFill>
              <a:srgbClr val="3E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6459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 hadir sebagai jembatan antara pengguna lokal, pabrik garmen, dan konsumen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— semua dalam satu ekosistem digital yang legal, higienis, dan terpercaya.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664208"/>
            <a:ext cx="1965960" cy="3063240"/>
          </a:xfrm>
          <a:prstGeom prst="rect">
            <a:avLst/>
          </a:prstGeom>
          <a:solidFill>
            <a:srgbClr val="0A3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664208"/>
            <a:ext cx="1965960" cy="4572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10" name="Shape 8"/>
          <p:cNvSpPr/>
          <p:nvPr/>
        </p:nvSpPr>
        <p:spPr>
          <a:xfrm>
            <a:off x="5148072" y="1828800"/>
            <a:ext cx="914400" cy="914400"/>
          </a:xfrm>
          <a:prstGeom prst="ellipse">
            <a:avLst/>
          </a:prstGeom>
          <a:solidFill>
            <a:srgbClr val="3ECFB2">
              <a:alpha val="80000"/>
            </a:srgbClr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865376"/>
            <a:ext cx="822960" cy="822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90872" y="2880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SirkulaVerify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690872" y="32461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Keaslian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09160" y="35661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produk diverifikasi oleh kurator ahli sebelum dipasarkan.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468880" y="1664208"/>
            <a:ext cx="1965960" cy="3063240"/>
          </a:xfrm>
          <a:prstGeom prst="rect">
            <a:avLst/>
          </a:prstGeom>
          <a:solidFill>
            <a:srgbClr val="0A3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68880" y="1664208"/>
            <a:ext cx="1965960" cy="4572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17" name="Shape 14"/>
          <p:cNvSpPr/>
          <p:nvPr/>
        </p:nvSpPr>
        <p:spPr>
          <a:xfrm>
            <a:off x="2999232" y="1828800"/>
            <a:ext cx="914400" cy="914400"/>
          </a:xfrm>
          <a:prstGeom prst="ellipse">
            <a:avLst/>
          </a:prstGeom>
          <a:solidFill>
            <a:srgbClr val="3ECFB2">
              <a:alpha val="80000"/>
            </a:srgbClr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1865376"/>
            <a:ext cx="822960" cy="8229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42032" y="2880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SirkulaCare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2542032" y="32461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Profesional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560320" y="35661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&amp; disinfeksi oleh mitra binatu bersertifikat sebelum dikirim.</a:t>
            </a:r>
            <a:endParaRPr lang="en-US" sz="9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8D595E-5638-04CA-E4AC-0FC63EA3775B}"/>
              </a:ext>
            </a:extLst>
          </p:cNvPr>
          <p:cNvGrpSpPr/>
          <p:nvPr/>
        </p:nvGrpSpPr>
        <p:grpSpPr>
          <a:xfrm>
            <a:off x="320040" y="1664208"/>
            <a:ext cx="1965960" cy="3063240"/>
            <a:chOff x="4617720" y="1664208"/>
            <a:chExt cx="1965960" cy="3063240"/>
          </a:xfrm>
        </p:grpSpPr>
        <p:sp>
          <p:nvSpPr>
            <p:cNvPr id="22" name="Shape 18"/>
            <p:cNvSpPr/>
            <p:nvPr/>
          </p:nvSpPr>
          <p:spPr>
            <a:xfrm>
              <a:off x="4617720" y="1664208"/>
              <a:ext cx="1965960" cy="3063240"/>
            </a:xfrm>
            <a:prstGeom prst="rect">
              <a:avLst/>
            </a:prstGeom>
            <a:solidFill>
              <a:srgbClr val="0A306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3" name="Shape 19"/>
            <p:cNvSpPr/>
            <p:nvPr/>
          </p:nvSpPr>
          <p:spPr>
            <a:xfrm>
              <a:off x="4617720" y="1664208"/>
              <a:ext cx="1965960" cy="45720"/>
            </a:xfrm>
            <a:prstGeom prst="rect">
              <a:avLst/>
            </a:prstGeom>
            <a:solidFill>
              <a:srgbClr val="3ECFB2"/>
            </a:solidFill>
            <a:ln/>
          </p:spPr>
        </p:sp>
        <p:sp>
          <p:nvSpPr>
            <p:cNvPr id="24" name="Shape 20"/>
            <p:cNvSpPr/>
            <p:nvPr/>
          </p:nvSpPr>
          <p:spPr>
            <a:xfrm>
              <a:off x="5148072" y="1828800"/>
              <a:ext cx="914400" cy="914400"/>
            </a:xfrm>
            <a:prstGeom prst="ellipse">
              <a:avLst/>
            </a:prstGeom>
            <a:solidFill>
              <a:srgbClr val="3ECFB2">
                <a:alpha val="80000"/>
              </a:srgbClr>
            </a:solidFill>
            <a:ln/>
          </p:spPr>
        </p:sp>
        <p:pic>
          <p:nvPicPr>
            <p:cNvPr id="25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84648" y="1865376"/>
              <a:ext cx="822960" cy="822960"/>
            </a:xfrm>
            <a:prstGeom prst="rect">
              <a:avLst/>
            </a:prstGeom>
          </p:spPr>
        </p:pic>
        <p:sp>
          <p:nvSpPr>
            <p:cNvPr id="26" name="Text 21"/>
            <p:cNvSpPr/>
            <p:nvPr/>
          </p:nvSpPr>
          <p:spPr>
            <a:xfrm>
              <a:off x="4690872" y="2880360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Dual Sourcing</a:t>
              </a:r>
              <a:endParaRPr lang="en-US" sz="1250" dirty="0"/>
            </a:p>
          </p:txBody>
        </p:sp>
        <p:sp>
          <p:nvSpPr>
            <p:cNvPr id="27" name="Text 22"/>
            <p:cNvSpPr/>
            <p:nvPr/>
          </p:nvSpPr>
          <p:spPr>
            <a:xfrm>
              <a:off x="4690872" y="3246120"/>
              <a:ext cx="18105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i="1" dirty="0">
                  <a:solidFill>
                    <a:srgbClr val="3ECFB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Pasokan 100% Domestik</a:t>
              </a:r>
              <a:endParaRPr lang="en-US" sz="950" dirty="0"/>
            </a:p>
          </p:txBody>
        </p:sp>
        <p:sp>
          <p:nvSpPr>
            <p:cNvPr id="28" name="Text 23"/>
            <p:cNvSpPr/>
            <p:nvPr/>
          </p:nvSpPr>
          <p:spPr>
            <a:xfrm>
              <a:off x="4709160" y="3566160"/>
              <a:ext cx="17830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7A99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Konsinyasi lokal + B2B garmen. Bebas risiko impor ilegal.</a:t>
              </a:r>
              <a:endParaRPr lang="en-US" sz="950" dirty="0"/>
            </a:p>
          </p:txBody>
        </p:sp>
      </p:grpSp>
      <p:sp>
        <p:nvSpPr>
          <p:cNvPr id="29" name="Shape 24"/>
          <p:cNvSpPr/>
          <p:nvPr/>
        </p:nvSpPr>
        <p:spPr>
          <a:xfrm>
            <a:off x="6766560" y="1664208"/>
            <a:ext cx="1965960" cy="3063240"/>
          </a:xfrm>
          <a:prstGeom prst="rect">
            <a:avLst/>
          </a:prstGeom>
          <a:solidFill>
            <a:srgbClr val="0A3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766560" y="1664208"/>
            <a:ext cx="1965960" cy="4572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1" name="Shape 26"/>
          <p:cNvSpPr/>
          <p:nvPr/>
        </p:nvSpPr>
        <p:spPr>
          <a:xfrm>
            <a:off x="7296912" y="1828800"/>
            <a:ext cx="914400" cy="914400"/>
          </a:xfrm>
          <a:prstGeom prst="ellipse">
            <a:avLst/>
          </a:prstGeom>
          <a:solidFill>
            <a:srgbClr val="3ECFB2">
              <a:alpha val="80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88" y="1865376"/>
            <a:ext cx="822960" cy="8229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39712" y="2880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Digital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6839712" y="32461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858000" y="35661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Kurasi, poin reward, dan CS responsif dalam satu genggaman.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0" y="49926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solidFill>
            <a:srgbClr val="3ECFB2"/>
          </a:solidFill>
          <a:ln w="12700">
            <a:solidFill>
              <a:srgbClr val="3E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 &amp; MISI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6459"/>
          </a:xfrm>
          <a:prstGeom prst="rect">
            <a:avLst/>
          </a:prstGeom>
          <a:solidFill>
            <a:srgbClr val="D6F5E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3931920" cy="3977640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868680"/>
            <a:ext cx="393192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267712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pelopor ekosistem recommerce fesyen digital di Indonesia yang memadukan inovasi teknologi dan kearifan lokal untuk mewujudkan gaya hidup sustainable yang aman, bergengsi, dan berdampak positif bagi pelestarian lingkungan.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0" y="1005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371600"/>
            <a:ext cx="4206240" cy="2286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157276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1572768"/>
            <a:ext cx="64008" cy="96012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16276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212080" y="1682496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prinsip ekonomi sirkular secara nyata untuk menekan volume limbah tekstil nasional.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267004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0" y="2670048"/>
            <a:ext cx="64008" cy="96012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20" name="Text 17"/>
          <p:cNvSpPr/>
          <p:nvPr/>
        </p:nvSpPr>
        <p:spPr>
          <a:xfrm>
            <a:off x="4709160" y="2724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212080" y="2779776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ekosistem jual-beli 100% legal dengan memberdayakan pasokan pengguna lokal dan garmen pabrik dalam negeri.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0" y="376732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3767328"/>
            <a:ext cx="64008" cy="96012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24" name="Text 21"/>
          <p:cNvSpPr/>
          <p:nvPr/>
        </p:nvSpPr>
        <p:spPr>
          <a:xfrm>
            <a:off x="4709160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212080" y="3877056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Mematahkan stigma negatif pakaian bekas melalui sistem autentikasi dan sanitasi berstandar profesional.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0" y="49926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solidFill>
            <a:srgbClr val="3ECFB2"/>
          </a:solidFill>
          <a:ln w="12700">
            <a:solidFill>
              <a:srgbClr val="3E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&amp; MANFAAT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6459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3931920" cy="731520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234440"/>
            <a:ext cx="54864" cy="7315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3441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Menciptakan platform recommerce fesyen yang legal, aman, dan terpercaya.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3931920" cy="731520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084832"/>
            <a:ext cx="54864" cy="7315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1945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Memperluas akses fesyen branded berkualitas bagi Gen Z dengan harga terjangkau.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3931920" cy="731520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935224"/>
            <a:ext cx="54864" cy="7315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0449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Mengurangi limbah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tekstil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untuk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pengusaha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sisa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efiesien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ekonomi sirkular berbasis kearifan lokal.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804672"/>
            <a:ext cx="22860" cy="4160520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822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1920240" cy="1536192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1234440"/>
            <a:ext cx="1920240" cy="36576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25880"/>
            <a:ext cx="384048" cy="3840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321808" y="13624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64608" y="18288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Fesyen branded harga hemat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64608" y="2231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Jaminan keaslian &amp; higienitas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812280" y="1234440"/>
            <a:ext cx="1920240" cy="1536192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33" name="Shape 30"/>
          <p:cNvSpPr/>
          <p:nvPr/>
        </p:nvSpPr>
        <p:spPr>
          <a:xfrm>
            <a:off x="6812280" y="1234440"/>
            <a:ext cx="1920240" cy="36576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384048" cy="38404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379208" y="13624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922008" y="18288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Platform konsinyasi mudah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6922008" y="2231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Tambahan penghasilan transparan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754880" y="2926080"/>
            <a:ext cx="1920240" cy="1536192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39" name="Shape 35"/>
          <p:cNvSpPr/>
          <p:nvPr/>
        </p:nvSpPr>
        <p:spPr>
          <a:xfrm>
            <a:off x="4754880" y="2926080"/>
            <a:ext cx="1920240" cy="36576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17520"/>
            <a:ext cx="384048" cy="38404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321808" y="305409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4864608" y="35204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Monetisasi sisa produksi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4864608" y="392277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Kurangi kerugian QC rejected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812280" y="2926080"/>
            <a:ext cx="1920240" cy="1536192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45" name="Shape 40"/>
          <p:cNvSpPr/>
          <p:nvPr/>
        </p:nvSpPr>
        <p:spPr>
          <a:xfrm>
            <a:off x="6812280" y="2926080"/>
            <a:ext cx="1920240" cy="36576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3017520"/>
            <a:ext cx="384048" cy="38404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379208" y="305409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6922008" y="35204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Perpanjang siklus produk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6922008" y="392277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Tekan volume sampah fashion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0" y="49926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solidFill>
            <a:srgbClr val="3ECFB2"/>
          </a:solidFill>
          <a:ln w="12700">
            <a:solidFill>
              <a:srgbClr val="3E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&amp; PRODUK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6459"/>
          </a:xfrm>
          <a:prstGeom prst="rect">
            <a:avLst/>
          </a:prstGeom>
          <a:solidFill>
            <a:srgbClr val="D6F5E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3840480" cy="3977640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868680"/>
            <a:ext cx="3840480" cy="36576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87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81328" y="1591056"/>
            <a:ext cx="16459" cy="18288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1463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28 Tahun (Generasi Z)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993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81328" y="2121408"/>
            <a:ext cx="16459" cy="18288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&amp; Jabodetabek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5237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81328" y="2651760"/>
            <a:ext cx="16459" cy="18288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25237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Menengah ke atas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0540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81328" y="3182112"/>
            <a:ext cx="16459" cy="18288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" y="30540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branded &amp; gaya hidup sustainable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584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81328" y="3712464"/>
            <a:ext cx="16459" cy="18288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3584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Peduli legalitas, higienitas &amp; lingkungan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114800"/>
            <a:ext cx="3520440" cy="59436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148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Juta+ potensi pengguna di Jabodetabek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9144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&amp; LAYANAN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1234440"/>
            <a:ext cx="4343400" cy="20117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29" name="Shape 27"/>
          <p:cNvSpPr/>
          <p:nvPr/>
        </p:nvSpPr>
        <p:spPr>
          <a:xfrm>
            <a:off x="4480560" y="1371600"/>
            <a:ext cx="43434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6F5EF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490472"/>
            <a:ext cx="384048" cy="38404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84064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Pakaian Light-Used Branded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84064" y="17007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Konsinyasi pengguna lokal. Terautentikasi &amp; disanitasi.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480560" y="2084832"/>
            <a:ext cx="4343400" cy="621792"/>
          </a:xfrm>
          <a:prstGeom prst="rect">
            <a:avLst/>
          </a:prstGeom>
          <a:solidFill>
            <a:srgbClr val="EDF6F4"/>
          </a:solidFill>
          <a:ln w="10160">
            <a:solidFill>
              <a:srgbClr val="D6F5EF"/>
            </a:solidFill>
            <a:prstDash val="solid"/>
          </a:ln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203704"/>
            <a:ext cx="384048" cy="38404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084064" y="21305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Sisa Garmen QC-Rejected Pabrik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5084064" y="24140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supply pabrik lokal. 100% legal domestik.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480560" y="2798064"/>
            <a:ext cx="43434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6F5EF"/>
            </a:solidFill>
            <a:prstDash val="solid"/>
          </a:ln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2916936"/>
            <a:ext cx="384048" cy="3840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084064" y="28437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SirkulaVerify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5084064" y="31272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keaslian oleh kurator ahli terintegrasi.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4480560" y="3511296"/>
            <a:ext cx="4343400" cy="621792"/>
          </a:xfrm>
          <a:prstGeom prst="rect">
            <a:avLst/>
          </a:prstGeom>
          <a:solidFill>
            <a:srgbClr val="EDF6F4"/>
          </a:solidFill>
          <a:ln w="10160">
            <a:solidFill>
              <a:srgbClr val="D6F5EF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3630168"/>
            <a:ext cx="384048" cy="38404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084064" y="35570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SirkulaCare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5084064" y="3840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&amp; laundry profesional sebelum pengiriman.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4480560" y="4224528"/>
            <a:ext cx="43434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6F5EF"/>
            </a:solidFill>
            <a:prstDash val="solid"/>
          </a:ln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4343400"/>
            <a:ext cx="384048" cy="38404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084064" y="42702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 #GayaSirkula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5084064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 bag · Pouch · Tumblr eksklusif.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0" y="49926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solidFill>
            <a:srgbClr val="3ECFB2"/>
          </a:solidFill>
          <a:ln w="12700">
            <a:solidFill>
              <a:srgbClr val="3E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SWOT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6459"/>
          </a:xfrm>
          <a:prstGeom prst="rect">
            <a:avLst/>
          </a:prstGeom>
          <a:solidFill>
            <a:srgbClr val="D6F5E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04672"/>
            <a:ext cx="4206240" cy="36576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78408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1426464"/>
            <a:ext cx="3977640" cy="13716"/>
          </a:xfrm>
          <a:prstGeom prst="rect">
            <a:avLst/>
          </a:prstGeom>
          <a:solidFill>
            <a:srgbClr val="D6F5E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996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SirkulaVerify — autentikasi keaslian oleh kurator ahli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883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SirkulaCare — sanitasi profesional terstandar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267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Legalitas 100% via dual-sourcing domestik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8046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804672"/>
            <a:ext cx="420624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9496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26464"/>
            <a:ext cx="3977640" cy="13716"/>
          </a:xfrm>
          <a:prstGeom prst="rect">
            <a:avLst/>
          </a:prstGeom>
          <a:solidFill>
            <a:srgbClr val="D6F5EF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14996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Tren eco-conscious Gen Z terus meningkat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752" y="1883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Potensi B2B pabrik garmen besar lokal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752" y="2267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Pasar recommerce nasional belum tersaturasi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834640"/>
            <a:ext cx="4206240" cy="36576"/>
          </a:xfrm>
          <a:prstGeom prst="rect">
            <a:avLst/>
          </a:prstGeom>
          <a:solidFill>
            <a:srgbClr val="7A99B8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78408" y="2990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" y="3456432"/>
            <a:ext cx="3977640" cy="13716"/>
          </a:xfrm>
          <a:prstGeom prst="rect">
            <a:avLst/>
          </a:prstGeom>
          <a:solidFill>
            <a:srgbClr val="D6F5E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29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Edukasi konsumen tentang QC-rejected masih perlu effort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913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Proses kurasi manual menjadi bottleneck operasional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Keterbatasan skala di fase awal peluncuran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28346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2834640"/>
            <a:ext cx="4206240" cy="36576"/>
          </a:xfrm>
          <a:prstGeom prst="rect">
            <a:avLst/>
          </a:prstGeom>
          <a:solidFill>
            <a:srgbClr val="E06060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394960" y="2990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456432"/>
            <a:ext cx="3977640" cy="13716"/>
          </a:xfrm>
          <a:prstGeom prst="rect">
            <a:avLst/>
          </a:prstGeom>
          <a:solidFill>
            <a:srgbClr val="D6F5EF"/>
          </a:solidFill>
          <a:ln/>
        </p:spPr>
      </p:sp>
      <p:sp>
        <p:nvSpPr>
          <p:cNvPr id="36" name="Text 34"/>
          <p:cNvSpPr/>
          <p:nvPr/>
        </p:nvSpPr>
        <p:spPr>
          <a:xfrm>
            <a:off x="4873752" y="3529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Serbuan fast fashion ultra-murah mendisrupsi minat pasar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73752" y="3913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Potensi perubahan regulasi QC-rejected dari brand impor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0" y="49926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solidFill>
            <a:srgbClr val="3ECFB2"/>
          </a:solidFill>
          <a:ln w="12700">
            <a:solidFill>
              <a:srgbClr val="3E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PRODUK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6459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membuat Sirkula berbeda dari platform lainnya?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2724912" cy="1572768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298448"/>
            <a:ext cx="2724912" cy="41148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8132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9848" y="14813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SirkulaVerify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" y="2011680"/>
            <a:ext cx="2395728" cy="13716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093976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keaslian oleh kurator berpengalaman. Pembeli dijamin barang branded asli.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724912" cy="1572768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15" name="Shape 12"/>
          <p:cNvSpPr/>
          <p:nvPr/>
        </p:nvSpPr>
        <p:spPr>
          <a:xfrm>
            <a:off x="3200400" y="1298448"/>
            <a:ext cx="2724912" cy="41148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48132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50208" y="14813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SirkulaCare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364992" y="2011680"/>
            <a:ext cx="2395728" cy="13716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9" name="Text 15"/>
          <p:cNvSpPr/>
          <p:nvPr/>
        </p:nvSpPr>
        <p:spPr>
          <a:xfrm>
            <a:off x="3337560" y="2093976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oleh mitra laundry profesional. Higienis &amp; bersih sebelum sampai ke tangan pembeli.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80760" y="1298448"/>
            <a:ext cx="2724912" cy="1572768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21" name="Shape 17"/>
          <p:cNvSpPr/>
          <p:nvPr/>
        </p:nvSpPr>
        <p:spPr>
          <a:xfrm>
            <a:off x="6080760" y="1298448"/>
            <a:ext cx="2724912" cy="41148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48132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30568" y="14813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Legal Domestik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45352" y="2011680"/>
            <a:ext cx="2395728" cy="13716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25" name="Text 20"/>
          <p:cNvSpPr/>
          <p:nvPr/>
        </p:nvSpPr>
        <p:spPr>
          <a:xfrm>
            <a:off x="6217920" y="2093976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Pasokan dari konsinyasi lokal &amp; pabrik garmen. Bebas risiko hukum impor ilegal.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20040" y="3035808"/>
            <a:ext cx="2724912" cy="1572768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27" name="Shape 22"/>
          <p:cNvSpPr/>
          <p:nvPr/>
        </p:nvSpPr>
        <p:spPr>
          <a:xfrm>
            <a:off x="320040" y="3035808"/>
            <a:ext cx="2724912" cy="41148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218688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69848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" y="3749040"/>
            <a:ext cx="2395728" cy="13716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1" name="Text 25"/>
          <p:cNvSpPr/>
          <p:nvPr/>
        </p:nvSpPr>
        <p:spPr>
          <a:xfrm>
            <a:off x="457200" y="3831336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bisnis ramah lingkungan memperpanjang siklus hidup produk fesyen.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200400" y="3035808"/>
            <a:ext cx="2724912" cy="1572768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33" name="Shape 27"/>
          <p:cNvSpPr/>
          <p:nvPr/>
        </p:nvSpPr>
        <p:spPr>
          <a:xfrm>
            <a:off x="3200400" y="3035808"/>
            <a:ext cx="2724912" cy="41148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218688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950208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Garmen Lokal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3364992" y="3749040"/>
            <a:ext cx="2395728" cy="13716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7" name="Text 30"/>
          <p:cNvSpPr/>
          <p:nvPr/>
        </p:nvSpPr>
        <p:spPr>
          <a:xfrm>
            <a:off x="3337560" y="3831336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dengan pabrik garmen untuk suplai berkualitas stabil dan konsisten.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080760" y="3035808"/>
            <a:ext cx="2724912" cy="1572768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39" name="Shape 32"/>
          <p:cNvSpPr/>
          <p:nvPr/>
        </p:nvSpPr>
        <p:spPr>
          <a:xfrm>
            <a:off x="6080760" y="3035808"/>
            <a:ext cx="2724912" cy="41148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3218688"/>
            <a:ext cx="457200" cy="4572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30568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Terjangkau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6245352" y="3749040"/>
            <a:ext cx="2395728" cy="13716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3" name="Text 35"/>
          <p:cNvSpPr/>
          <p:nvPr/>
        </p:nvSpPr>
        <p:spPr>
          <a:xfrm>
            <a:off x="6217920" y="3831336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premium dengan harga hemat. Fesyen bermerek tak harus menguras kantong.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0" y="49926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solidFill>
            <a:srgbClr val="3ECFB2"/>
          </a:solidFill>
          <a:ln w="12700">
            <a:solidFill>
              <a:srgbClr val="3E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&amp; REVENUE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6459"/>
          </a:xfrm>
          <a:prstGeom prst="rect">
            <a:avLst/>
          </a:prstGeom>
          <a:solidFill>
            <a:srgbClr val="D6F5E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BIAYA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124712"/>
            <a:ext cx="3840480" cy="20117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261872"/>
            <a:ext cx="3840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54864" cy="786384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16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per Unit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21.830.000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157984"/>
            <a:ext cx="3840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57984"/>
            <a:ext cx="54864" cy="786384"/>
          </a:xfrm>
          <a:prstGeom prst="rect">
            <a:avLst/>
          </a:prstGeom>
          <a:solidFill>
            <a:srgbClr val="7A99B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Tetap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523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24.000.000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" y="3054096"/>
            <a:ext cx="3840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54096"/>
            <a:ext cx="54864" cy="786384"/>
          </a:xfrm>
          <a:prstGeom prst="rect">
            <a:avLst/>
          </a:prstGeom>
          <a:solidFill>
            <a:srgbClr val="7A99B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Memulai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419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6.850.000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0040" y="3950208"/>
            <a:ext cx="3840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50208"/>
            <a:ext cx="54864" cy="78638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Laba Bersih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315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30.000.000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8229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PENDAPATAN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1124712"/>
            <a:ext cx="4251960" cy="20117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1261872"/>
            <a:ext cx="42519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261872"/>
            <a:ext cx="54864" cy="1060704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29" name="Shape 27"/>
          <p:cNvSpPr/>
          <p:nvPr/>
        </p:nvSpPr>
        <p:spPr>
          <a:xfrm>
            <a:off x="4736592" y="1444752"/>
            <a:ext cx="822960" cy="658368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144475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687568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Aplikasi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87568" y="17556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setiap transaksi penjualan di platform Sirkula.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2450592"/>
            <a:ext cx="42519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450592"/>
            <a:ext cx="54864" cy="1060704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5" name="Shape 33"/>
          <p:cNvSpPr/>
          <p:nvPr/>
        </p:nvSpPr>
        <p:spPr>
          <a:xfrm>
            <a:off x="4736592" y="2633472"/>
            <a:ext cx="822960" cy="658368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263347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687568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Fee Vendor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87568" y="29443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harga barang untuk mitra vendor B2B garmen.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3639312"/>
            <a:ext cx="42519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3639312"/>
            <a:ext cx="54864" cy="1060704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41" name="Shape 39"/>
          <p:cNvSpPr/>
          <p:nvPr/>
        </p:nvSpPr>
        <p:spPr>
          <a:xfrm>
            <a:off x="4736592" y="3822192"/>
            <a:ext cx="822960" cy="658368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42" name="Text 40"/>
          <p:cNvSpPr/>
          <p:nvPr/>
        </p:nvSpPr>
        <p:spPr>
          <a:xfrm>
            <a:off x="4736592" y="382219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687568" y="3749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87568" y="41330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 Bag Rp 50.000  ·  Pouch Rp 35.000  ·  Tumblr Stainless Rp 65.000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0" y="49926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solidFill>
            <a:srgbClr val="3ECFB2"/>
          </a:solidFill>
          <a:ln w="12700">
            <a:solidFill>
              <a:srgbClr val="3E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16459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578608"/>
            <a:ext cx="8503920" cy="25603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468880"/>
            <a:ext cx="228600" cy="2286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841248"/>
            <a:ext cx="2724912" cy="1581912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841248"/>
            <a:ext cx="2724912" cy="36576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32688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69848" y="932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9848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12 Bulan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1709928"/>
            <a:ext cx="2450592" cy="1463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75564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Tahun 1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0040" y="2788920"/>
            <a:ext cx="2724912" cy="2011680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898648"/>
            <a:ext cx="128016" cy="12801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8529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aplikasi di Jabodetabek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355848"/>
            <a:ext cx="128016" cy="12801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3101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4+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laundry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813048"/>
            <a:ext cx="128016" cy="12801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7673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400 transaksi pertama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270248"/>
            <a:ext cx="128016" cy="12801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42245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model operasional &amp; UX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97680" y="2468880"/>
            <a:ext cx="228600" cy="228600"/>
          </a:xfrm>
          <a:prstGeom prst="ellipse">
            <a:avLst/>
          </a:prstGeom>
          <a:solidFill>
            <a:srgbClr val="3ECFB2"/>
          </a:solidFill>
          <a:ln/>
        </p:spPr>
      </p:sp>
      <p:sp>
        <p:nvSpPr>
          <p:cNvPr id="26" name="Shape 23"/>
          <p:cNvSpPr/>
          <p:nvPr/>
        </p:nvSpPr>
        <p:spPr>
          <a:xfrm>
            <a:off x="3246120" y="841248"/>
            <a:ext cx="2724912" cy="1581912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27" name="Shape 24"/>
          <p:cNvSpPr/>
          <p:nvPr/>
        </p:nvSpPr>
        <p:spPr>
          <a:xfrm>
            <a:off x="3246120" y="841248"/>
            <a:ext cx="2724912" cy="36576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32688"/>
            <a:ext cx="502920" cy="5029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995928" y="932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3995928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12 -24 Bulan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383280" y="1709928"/>
            <a:ext cx="2450592" cy="1463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2" name="Text 28"/>
          <p:cNvSpPr/>
          <p:nvPr/>
        </p:nvSpPr>
        <p:spPr>
          <a:xfrm>
            <a:off x="3383280" y="175564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Tahun 2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3246120" y="2788920"/>
            <a:ext cx="2724912" cy="2011680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34" name="Shape 30"/>
          <p:cNvSpPr/>
          <p:nvPr/>
        </p:nvSpPr>
        <p:spPr>
          <a:xfrm>
            <a:off x="3383280" y="2898648"/>
            <a:ext cx="128016" cy="128016"/>
          </a:xfrm>
          <a:prstGeom prst="ellipse">
            <a:avLst/>
          </a:prstGeom>
          <a:solidFill>
            <a:srgbClr val="3ECFB2"/>
          </a:solidFill>
          <a:ln/>
        </p:spPr>
      </p:sp>
      <p:sp>
        <p:nvSpPr>
          <p:cNvPr id="35" name="Text 31"/>
          <p:cNvSpPr/>
          <p:nvPr/>
        </p:nvSpPr>
        <p:spPr>
          <a:xfrm>
            <a:off x="3611880" y="28529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ke seluruh Pulau Jawa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3383280" y="3355848"/>
            <a:ext cx="128016" cy="128016"/>
          </a:xfrm>
          <a:prstGeom prst="ellipse">
            <a:avLst/>
          </a:prstGeom>
          <a:solidFill>
            <a:srgbClr val="3ECFB2"/>
          </a:solidFill>
          <a:ln/>
        </p:spPr>
      </p:sp>
      <p:sp>
        <p:nvSpPr>
          <p:cNvPr id="37" name="Text 33"/>
          <p:cNvSpPr/>
          <p:nvPr/>
        </p:nvSpPr>
        <p:spPr>
          <a:xfrm>
            <a:off x="3611880" y="33101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AI kurasi otomatis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383280" y="3813048"/>
            <a:ext cx="128016" cy="128016"/>
          </a:xfrm>
          <a:prstGeom prst="ellipse">
            <a:avLst/>
          </a:prstGeom>
          <a:solidFill>
            <a:srgbClr val="3ECFB2"/>
          </a:solidFill>
          <a:ln/>
        </p:spPr>
      </p:sp>
      <p:sp>
        <p:nvSpPr>
          <p:cNvPr id="39" name="Text 35"/>
          <p:cNvSpPr/>
          <p:nvPr/>
        </p:nvSpPr>
        <p:spPr>
          <a:xfrm>
            <a:off x="3611880" y="37673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brand lokal resell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3383280" y="4270248"/>
            <a:ext cx="128016" cy="128016"/>
          </a:xfrm>
          <a:prstGeom prst="ellipse">
            <a:avLst/>
          </a:prstGeom>
          <a:solidFill>
            <a:srgbClr val="3ECFB2"/>
          </a:solidFill>
          <a:ln/>
        </p:spPr>
      </p:sp>
      <p:sp>
        <p:nvSpPr>
          <p:cNvPr id="41" name="Text 37"/>
          <p:cNvSpPr/>
          <p:nvPr/>
        </p:nvSpPr>
        <p:spPr>
          <a:xfrm>
            <a:off x="3611880" y="42245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 Break Even Point (BEP)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7223760" y="2468880"/>
            <a:ext cx="228600" cy="228600"/>
          </a:xfrm>
          <a:prstGeom prst="ellipse">
            <a:avLst/>
          </a:prstGeom>
          <a:solidFill>
            <a:srgbClr val="7A99B8"/>
          </a:solidFill>
          <a:ln/>
        </p:spPr>
      </p:sp>
      <p:sp>
        <p:nvSpPr>
          <p:cNvPr id="43" name="Shape 39"/>
          <p:cNvSpPr/>
          <p:nvPr/>
        </p:nvSpPr>
        <p:spPr>
          <a:xfrm>
            <a:off x="6172200" y="841248"/>
            <a:ext cx="2724912" cy="1581912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44" name="Shape 40"/>
          <p:cNvSpPr/>
          <p:nvPr/>
        </p:nvSpPr>
        <p:spPr>
          <a:xfrm>
            <a:off x="6172200" y="841248"/>
            <a:ext cx="2724912" cy="36576"/>
          </a:xfrm>
          <a:prstGeom prst="rect">
            <a:avLst/>
          </a:prstGeom>
          <a:solidFill>
            <a:srgbClr val="7A99B8"/>
          </a:solidFill>
          <a:ln/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932688"/>
            <a:ext cx="502920" cy="5029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922008" y="932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6922008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24 Bulan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6309360" y="1709928"/>
            <a:ext cx="2450592" cy="1463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9" name="Text 44"/>
          <p:cNvSpPr/>
          <p:nvPr/>
        </p:nvSpPr>
        <p:spPr>
          <a:xfrm>
            <a:off x="6309360" y="175564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Tahun 3+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6172200" y="2788920"/>
            <a:ext cx="2724912" cy="2011680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51" name="Shape 46"/>
          <p:cNvSpPr/>
          <p:nvPr/>
        </p:nvSpPr>
        <p:spPr>
          <a:xfrm>
            <a:off x="6309360" y="2898648"/>
            <a:ext cx="128016" cy="128016"/>
          </a:xfrm>
          <a:prstGeom prst="ellipse">
            <a:avLst/>
          </a:prstGeom>
          <a:solidFill>
            <a:srgbClr val="7A99B8"/>
          </a:solidFill>
          <a:ln/>
        </p:spPr>
      </p:sp>
      <p:sp>
        <p:nvSpPr>
          <p:cNvPr id="52" name="Text 47"/>
          <p:cNvSpPr/>
          <p:nvPr/>
        </p:nvSpPr>
        <p:spPr>
          <a:xfrm>
            <a:off x="6537960" y="28529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nasional luar Jawa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6309360" y="3355848"/>
            <a:ext cx="128016" cy="128016"/>
          </a:xfrm>
          <a:prstGeom prst="ellipse">
            <a:avLst/>
          </a:prstGeom>
          <a:solidFill>
            <a:srgbClr val="7A99B8"/>
          </a:solidFill>
          <a:ln/>
        </p:spPr>
      </p:sp>
      <p:sp>
        <p:nvSpPr>
          <p:cNvPr id="54" name="Text 49"/>
          <p:cNvSpPr/>
          <p:nvPr/>
        </p:nvSpPr>
        <p:spPr>
          <a:xfrm>
            <a:off x="6537960" y="33101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desainer lokal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309360" y="3813048"/>
            <a:ext cx="128016" cy="128016"/>
          </a:xfrm>
          <a:prstGeom prst="ellipse">
            <a:avLst/>
          </a:prstGeom>
          <a:solidFill>
            <a:srgbClr val="7A99B8"/>
          </a:solidFill>
          <a:ln/>
        </p:spPr>
      </p:sp>
      <p:sp>
        <p:nvSpPr>
          <p:cNvPr id="56" name="Text 51"/>
          <p:cNvSpPr/>
          <p:nvPr/>
        </p:nvSpPr>
        <p:spPr>
          <a:xfrm>
            <a:off x="6537960" y="37673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peer-to-peer marketplace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6309360" y="4270248"/>
            <a:ext cx="128016" cy="128016"/>
          </a:xfrm>
          <a:prstGeom prst="ellipse">
            <a:avLst/>
          </a:prstGeom>
          <a:solidFill>
            <a:srgbClr val="7A99B8"/>
          </a:solidFill>
          <a:ln/>
        </p:spPr>
      </p:sp>
      <p:sp>
        <p:nvSpPr>
          <p:cNvPr id="58" name="Text 53"/>
          <p:cNvSpPr/>
          <p:nvPr/>
        </p:nvSpPr>
        <p:spPr>
          <a:xfrm>
            <a:off x="6537960" y="422452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fashion ecosystem RI</a:t>
            </a:r>
            <a:endParaRPr lang="en-US" sz="1000" dirty="0"/>
          </a:p>
        </p:txBody>
      </p:sp>
      <p:sp>
        <p:nvSpPr>
          <p:cNvPr id="59" name="Text 54"/>
          <p:cNvSpPr/>
          <p:nvPr/>
        </p:nvSpPr>
        <p:spPr>
          <a:xfrm>
            <a:off x="0" y="49926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4572000" cy="4572000"/>
          </a:xfrm>
          <a:prstGeom prst="ellipse">
            <a:avLst/>
          </a:prstGeom>
          <a:solidFill>
            <a:srgbClr val="3ECFB2">
              <a:alpha val="10000"/>
            </a:srgbClr>
          </a:solidFill>
          <a:ln w="6350">
            <a:solidFill>
              <a:srgbClr val="3ECFB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548640"/>
            <a:ext cx="2926080" cy="2926080"/>
          </a:xfrm>
          <a:prstGeom prst="ellipse">
            <a:avLst/>
          </a:prstGeom>
          <a:solidFill>
            <a:srgbClr val="3ECFB2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B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258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SIRKULA</a:t>
            </a:r>
            <a:endParaRPr lang="en-US" sz="6800" dirty="0"/>
          </a:p>
        </p:txBody>
      </p:sp>
      <p:sp>
        <p:nvSpPr>
          <p:cNvPr id="7" name="Shape 4"/>
          <p:cNvSpPr/>
          <p:nvPr/>
        </p:nvSpPr>
        <p:spPr>
          <a:xfrm>
            <a:off x="502920" y="2606040"/>
            <a:ext cx="2743200" cy="25603"/>
          </a:xfrm>
          <a:prstGeom prst="rect">
            <a:avLst/>
          </a:prstGeom>
          <a:solidFill>
            <a:srgbClr val="3ECFB2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743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Mendaur Ulang Gaya, Memutar Nilai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33832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02920" y="4206240"/>
            <a:ext cx="5029200" cy="713232"/>
          </a:xfrm>
          <a:prstGeom prst="rect">
            <a:avLst/>
          </a:prstGeom>
          <a:solidFill>
            <a:srgbClr val="0A3060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" y="4206240"/>
            <a:ext cx="45720" cy="7132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427939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Didesain oleh Maliq  ·  Sirkula 2025  ·  Jakarta, Indonesia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848</Words>
  <Application>Microsoft Office PowerPoint</Application>
  <PresentationFormat>On-screen Show (16:9)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SIRKULA — Platform Recommerce Fesyen</dc:title>
  <dc:subject>PptxGenJS Presentation</dc:subject>
  <dc:creator>PptxGenJS</dc:creator>
  <cp:lastModifiedBy>Maliq Rizqi Ananda</cp:lastModifiedBy>
  <cp:revision>2</cp:revision>
  <dcterms:created xsi:type="dcterms:W3CDTF">2026-04-21T03:06:32Z</dcterms:created>
  <dcterms:modified xsi:type="dcterms:W3CDTF">2026-04-21T06:58:00Z</dcterms:modified>
</cp:coreProperties>
</file>